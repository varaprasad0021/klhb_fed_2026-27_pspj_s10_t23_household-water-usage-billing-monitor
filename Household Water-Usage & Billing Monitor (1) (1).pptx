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embeddedFontLst>
    <p:embeddedFont>
      <p:font typeface="Plus Jakarta Sans"/>
      <p:bold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59" autoAdjust="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38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4451002"/>
            <a:ext cx="10972800" cy="6572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09600" y="1749772"/>
            <a:ext cx="1152525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09600" y="4451002"/>
            <a:ext cx="109728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09600" y="2206972"/>
            <a:ext cx="9101137" cy="11391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484"/>
              </a:lnSpc>
            </a:pPr>
            <a:r>
              <a:rPr sz="3900" b="1" i="0" u="none">
                <a:solidFill>
                  <a:srgbClr val="FFFFFF"/>
                </a:solidFill>
                <a:latin typeface="Plus Jakarta Sans"/>
              </a:rPr>
              <a:t>Household Water-Usage &amp; Billing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98502"/>
            <a:ext cx="771525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 Java-based computational system designed for meter tracking, consumption diagnostics, leak flagging, and tiered utility charge calculation.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1806922"/>
            <a:ext cx="98107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FFFFF"/>
                </a:solidFill>
                <a:latin typeface="Plus Jakarta Sans"/>
              </a:rPr>
              <a:t>TEAM NO: 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6425" y="1797397"/>
            <a:ext cx="4196953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JAVA PROJECT EXPO 2026 | FED COURSE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4727227"/>
            <a:ext cx="5679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TEAM MEMBERS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4908202"/>
            <a:ext cx="5679281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E.V. Vara Prasad (2620030676) • B.V.S. Tejesh (2620080086)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4025" y="4727227"/>
            <a:ext cx="14192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BDF8"/>
                </a:solidFill>
                <a:latin typeface="Plus Jakarta Sans"/>
              </a:rPr>
              <a:t>SUPERVISOR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4025" y="4908202"/>
            <a:ext cx="14192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8FAFC"/>
                </a:solidFill>
                <a:latin typeface="Plus Jakarta Sans"/>
              </a:rPr>
              <a:t>Dr. K. Rajesh Sir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309812"/>
            <a:ext cx="35052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343400" y="2309812"/>
            <a:ext cx="35052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077200" y="2309812"/>
            <a:ext cx="3505200" cy="30480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2624137"/>
            <a:ext cx="457200" cy="4572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2624137"/>
            <a:ext cx="457200" cy="4572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2624137"/>
            <a:ext cx="457200" cy="4572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275" y="2757487"/>
            <a:ext cx="190500" cy="1905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14887" y="2757487"/>
            <a:ext cx="142875" cy="1905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24875" y="2757487"/>
            <a:ext cx="190500" cy="1905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Project Summary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14362"/>
            <a:ext cx="9715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06150" y="609600"/>
            <a:ext cx="76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27183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Consumption Tracking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3624262"/>
            <a:ext cx="2971800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Automates raw meter reading calculations to track domestic water usage volume instantly with high precision.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7725" y="327183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Billing Estimation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7725" y="3624262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Estimates total financial bills based on unit consumption and local tariff assumptions accurately.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1525" y="3271837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Leak 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1525" y="3624262"/>
            <a:ext cx="2971800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Incorporates occupant data and leak flags to alert households to non-standard usage spikes.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57500"/>
            <a:ext cx="31940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4498925" y="2757487"/>
            <a:ext cx="3194000" cy="2343150"/>
          </a:xfrm>
          <a:prstGeom prst="roundRect">
            <a:avLst>
              <a:gd name="adj" fmla="val 650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388250" y="2857500"/>
            <a:ext cx="3194000" cy="2143125"/>
          </a:xfrm>
          <a:prstGeom prst="roundRect">
            <a:avLst>
              <a:gd name="adj" fmla="val 711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2200" y="3795712"/>
            <a:ext cx="238125" cy="266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1525" y="3795712"/>
            <a:ext cx="238125" cy="266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Architecture &amp;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614362"/>
            <a:ext cx="12287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SYSTEM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06150" y="609600"/>
            <a:ext cx="76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171825"/>
            <a:ext cx="33670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250" y="3071812"/>
            <a:ext cx="33670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02575" y="3171825"/>
            <a:ext cx="3367022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284C7"/>
                </a:solidFill>
                <a:latin typeface="Plus Jakarta Sans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925" y="3543300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Account credentials &amp; details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925" y="3857625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Previous &amp; current dial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925" y="4171950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Number of household occupants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925" y="4486275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Active leak detection status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3250" y="3443287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Validate input logical boundaries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3250" y="3757612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Compute net water usage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13250" y="4071937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Calculate bill via tariff rates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13250" y="4386262"/>
            <a:ext cx="26606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Review per-occupant usage ratios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2575" y="3543300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Detailed consumption summary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2575" y="3857625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Estimated water charge amount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02575" y="4171950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Occupant efficiency review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2575" y="4486275"/>
            <a:ext cx="3206687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• Active leak warning indicator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981700" y="2847975"/>
            <a:ext cx="5600700" cy="2085975"/>
          </a:xfrm>
          <a:prstGeom prst="roundRect">
            <a:avLst>
              <a:gd name="adj" fmla="val 7305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248400" y="4505325"/>
            <a:ext cx="5067300" cy="161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4505325"/>
            <a:ext cx="50673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057400" y="4281487"/>
            <a:ext cx="2492126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828800" y="4576762"/>
            <a:ext cx="2766566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CO1: Basics &amp; Computational Math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3114675"/>
            <a:ext cx="5162550" cy="1552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E2E8F0"/>
                </a:solidFill>
                <a:latin typeface="Plus Jakarta Sans"/>
              </a:rPr>
              <a:t>double previousReading; double currentReading; Scanner scanner = new Scanner(System.in); System.out.printf("Bill: ₹%.2f", bill);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4362"/>
            <a:ext cx="1690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COURSE OUTCOME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6150" y="609600"/>
            <a:ext cx="76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3005137"/>
            <a:ext cx="665083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Core Algorithm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8400" y="2957512"/>
            <a:ext cx="59436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38BDF8"/>
                </a:solidFill>
                <a:latin typeface="Plus Jakarta Sans"/>
              </a:rPr>
              <a:t>JAVA PRIMITIVES APPLIED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48400" y="3400425"/>
            <a:ext cx="516255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E2E8F0"/>
                </a:solidFill>
                <a:latin typeface="monospace"/>
              </a:rPr>
              <a:t>double previousReading; double currentReading; Scanner scanner = new Scanner(System.in); System.out.printf("Bill: ₹%.2f", bill);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5325" y="3371850"/>
            <a:ext cx="1047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1.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" y="3395662"/>
            <a:ext cx="6096000" cy="200025"/>
          </a:xfrm>
          <a:prstGeom prst="rect">
            <a:avLst/>
          </a:prstGeom>
          <a:noFill/>
        </p:spPr>
        <p:txBody>
          <a:bodyPr wrap="none" lIns="1047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Read previous and current water meter values.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225" y="3667125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2.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" y="3690937"/>
            <a:ext cx="6096000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Input local unit tariff rate and fixed charges.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225" y="3962400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3.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" y="3986212"/>
            <a:ext cx="6096000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Validate bounds (current ≥ previous).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225" y="4257675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4.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" y="4281487"/>
            <a:ext cx="6096000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Calculate usage: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" y="4552950"/>
            <a:ext cx="1428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" y="4576762"/>
            <a:ext cx="6096000" cy="200025"/>
          </a:xfrm>
          <a:prstGeom prst="rect">
            <a:avLst/>
          </a:prstGeom>
          <a:noFill/>
        </p:spPr>
        <p:txBody>
          <a:bodyPr wrap="none" lIns="142875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475569"/>
                </a:solidFill>
                <a:latin typeface="Plus Jakarta Sans"/>
              </a:rPr>
              <a:t>Compute bill: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8400" y="4514850"/>
            <a:ext cx="59436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Assumed Standard Rate: ₹25 per unit with ₹50 fixed connection charge.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14550" y="4300537"/>
            <a:ext cx="3000858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284C7"/>
                </a:solidFill>
                <a:latin typeface="monospace"/>
              </a:rPr>
              <a:t>usage = current - previous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85950" y="4595812"/>
            <a:ext cx="334390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284C7"/>
                </a:solidFill>
                <a:latin typeface="monospace"/>
              </a:rPr>
              <a:t>bill = (usage × rate) + fixed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14637"/>
            <a:ext cx="5372100" cy="2152650"/>
          </a:xfrm>
          <a:prstGeom prst="roundRect">
            <a:avLst>
              <a:gd name="adj" fmla="val 70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676525"/>
            <a:ext cx="5372100" cy="2428875"/>
          </a:xfrm>
          <a:prstGeom prst="roundRect">
            <a:avLst>
              <a:gd name="adj" fmla="val 627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090862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295275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00" y="3195637"/>
            <a:ext cx="1714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7487" y="3057525"/>
            <a:ext cx="219075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CO2: Control Flow &amp; Validation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4362"/>
            <a:ext cx="1714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COURSE OUTCOME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6150" y="609600"/>
            <a:ext cx="76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24262"/>
            <a:ext cx="63257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Decision &amp; Validation Rules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486150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Multi-Month Processing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825" y="3957637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Negative Values: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Instantly reject and signal input error message.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5825" y="4233862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Inverted Dials: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Request re-entry if current &lt; previous reading.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825" y="4510087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Valid Readings: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Compute usage differential and estimate bill.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3819525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Sequential multi-month record validation.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4095750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Accumulation of total volume consumption.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86525" y="4371975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Calculation of rolling monthly averages.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525" y="4648200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Automatic threshold overrun flags.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248400" y="3005137"/>
            <a:ext cx="53340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48400" y="3967162"/>
            <a:ext cx="5334000" cy="809625"/>
          </a:xfrm>
          <a:prstGeom prst="roundRect">
            <a:avLst>
              <a:gd name="adj" fmla="val 141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CO3: Arrays &amp; Modular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4362"/>
            <a:ext cx="1714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COURSE OUTCOME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6150" y="609600"/>
            <a:ext cx="76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249066"/>
            <a:ext cx="70008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Plus Jakarta Sans"/>
              </a:rPr>
              <a:t>Array Storage &amp; Historical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3639591"/>
            <a:ext cx="5429250" cy="7408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sz="1200" b="0" i="0" u="none">
                <a:solidFill>
                  <a:srgbClr val="475569"/>
                </a:solidFill>
                <a:latin typeface="Plus Jakarta Sans"/>
              </a:rPr>
              <a:t>Maintains synchronized parallel arrays (</a:t>
            </a:r>
            <a:r>
              <a:rPr sz="1200" b="0" i="0" u="none">
                <a:solidFill>
                  <a:srgbClr val="0284C7"/>
                </a:solidFill>
                <a:latin typeface="Plus Jakarta Sans"/>
              </a:rPr>
              <a:t>months[]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sz="1200" b="0" i="0" u="none">
                <a:solidFill>
                  <a:srgbClr val="0284C7"/>
                </a:solidFill>
                <a:latin typeface="Plus Jakarta Sans"/>
              </a:rPr>
              <a:t>usage[]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, </a:t>
            </a:r>
            <a:r>
              <a:rPr sz="1200" b="0" i="0" u="none">
                <a:solidFill>
                  <a:srgbClr val="0284C7"/>
                </a:solidFill>
                <a:latin typeface="Plus Jakarta Sans"/>
              </a:rPr>
              <a:t>bills[]</a:t>
            </a:r>
            <a:r>
              <a:rPr sz="1200" b="0" i="0" u="none">
                <a:solidFill>
                  <a:srgbClr val="475569"/>
                </a:solidFill>
                <a:latin typeface="Plus Jakarta Sans"/>
              </a:rPr>
              <a:t>) to query peak usage periods, compute projected annual expenditures, and lay groundwork for object-oriented persistence.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8425" y="3205162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validateReadings()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8425" y="3443287"/>
            <a:ext cx="5743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Checks logical input bounds and sequence integrity.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8425" y="4167187"/>
            <a:ext cx="574357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284C7"/>
                </a:solidFill>
                <a:latin typeface="Plus Jakarta Sans"/>
              </a:rPr>
              <a:t>calculateUsage() &amp; calculateBill()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8425" y="4405312"/>
            <a:ext cx="57435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0" i="0" u="none">
                <a:solidFill>
                  <a:srgbClr val="475569"/>
                </a:solidFill>
                <a:latin typeface="Plus Jakarta Sans"/>
              </a:rPr>
              <a:t>Computes consumption delta and evaluates cost via tariff rates.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952750"/>
            <a:ext cx="53721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952750"/>
            <a:ext cx="5372100" cy="1876425"/>
          </a:xfrm>
          <a:prstGeom prst="roundRect">
            <a:avLst>
              <a:gd name="adj" fmla="val 812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876300"/>
            <a:ext cx="4885953" cy="41549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 dirty="0">
                <a:solidFill>
                  <a:srgbClr val="0F172A"/>
                </a:solidFill>
                <a:latin typeface="Plus Jakarta Sans"/>
              </a:rPr>
              <a:t>CO4: </a:t>
            </a:r>
            <a:r>
              <a:rPr sz="2700" b="1" i="0" u="none" dirty="0" smtClean="0">
                <a:solidFill>
                  <a:srgbClr val="0F172A"/>
                </a:solidFill>
                <a:latin typeface="Plus Jakarta Sans"/>
              </a:rPr>
              <a:t>Object-Oriented</a:t>
            </a:r>
            <a:r>
              <a:rPr lang="en-US" sz="2700" b="1" i="0" u="none" dirty="0" smtClean="0">
                <a:solidFill>
                  <a:srgbClr val="0F172A"/>
                </a:solidFill>
                <a:latin typeface="Plus Jakarta Sans"/>
              </a:rPr>
              <a:t>  </a:t>
            </a:r>
            <a:r>
              <a:rPr lang="en-US" sz="2700" b="1" dirty="0" smtClean="0">
                <a:solidFill>
                  <a:srgbClr val="0F172A"/>
                </a:solidFill>
                <a:latin typeface="Plus Jakarta Sans"/>
              </a:rPr>
              <a:t>Design</a:t>
            </a:r>
            <a:endParaRPr sz="27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614362"/>
            <a:ext cx="17264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COURSE OUTCOME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15675" y="609600"/>
            <a:ext cx="7524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228975"/>
            <a:ext cx="63257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Encapsulated Classes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228975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Polymorphism &amp; Packages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00450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WaterMeter: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Stores previous &amp; current dial stats.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895725"/>
            <a:ext cx="4914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HouseholdAccount: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Holds consumer profile and assigned rate structure.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371975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WaterBill: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Encapsulates charge calculation behavior.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600450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Billable Interface: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Defines standard contracts across tariff models.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895725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Subclassing: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Custom commercial vs residential rate algorithms.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191000"/>
            <a:ext cx="491490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</a:t>
            </a:r>
            <a:r>
              <a:rPr sz="1125" b="1" i="0" u="none">
                <a:solidFill>
                  <a:srgbClr val="475569"/>
                </a:solidFill>
                <a:latin typeface="Plus Jakarta Sans"/>
              </a:rPr>
              <a:t>Package Organization: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Clean separation between model, billing, and reports.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833687"/>
            <a:ext cx="5372100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2833687"/>
            <a:ext cx="5372100" cy="2114550"/>
          </a:xfrm>
          <a:prstGeom prst="roundRect">
            <a:avLst>
              <a:gd name="adj" fmla="val 72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825" y="3109912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6525" y="3109912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9650" y="3214687"/>
            <a:ext cx="133350" cy="1714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0825" y="3214687"/>
            <a:ext cx="152400" cy="1714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CO5: I/O &amp; Collections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614362"/>
            <a:ext cx="1714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COURSE OUTCOME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6150" y="609600"/>
            <a:ext cx="76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43312"/>
            <a:ext cx="63257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Exception Handling &amp;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5825" y="3976687"/>
            <a:ext cx="491490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Guards system state against malformed user inputs and unexpected disk failures using Java exception handling (</a:t>
            </a:r>
            <a:r>
              <a:rPr sz="1125" b="0" i="0" u="none">
                <a:solidFill>
                  <a:srgbClr val="0284C7"/>
                </a:solidFill>
                <a:latin typeface="Plus Jakarta Sans"/>
              </a:rPr>
              <a:t>try-catch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). Persists consumption history directly into structured CSV/text logs.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643312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Collections &amp; Streams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3976687"/>
            <a:ext cx="4914900" cy="695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125" b="0" i="0" u="none">
                <a:solidFill>
                  <a:srgbClr val="475569"/>
                </a:solidFill>
                <a:latin typeface="Plus Jakarta Sans"/>
              </a:rPr>
              <a:t>Replaces fixed static arrays with </a:t>
            </a:r>
            <a:r>
              <a:rPr sz="1125" b="0" i="0" u="none">
                <a:solidFill>
                  <a:srgbClr val="0284C7"/>
                </a:solidFill>
                <a:latin typeface="Plus Jakarta Sans"/>
              </a:rPr>
              <a:t>ArrayList</a:t>
            </a:r>
            <a:r>
              <a:rPr sz="1125" b="0" i="0" u="none">
                <a:solidFill>
                  <a:srgbClr val="475569"/>
                </a:solidFill>
                <a:latin typeface="Plus Jakarta Sans"/>
              </a:rPr>
              <a:t> for dynamic scaling. Leverages Java Streams to filter high-usage months and perform aggregate summary computations.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133725"/>
            <a:ext cx="2600325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400425" y="3133725"/>
            <a:ext cx="2600325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91250" y="3133725"/>
            <a:ext cx="2600325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8982075" y="3133725"/>
            <a:ext cx="2600325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738312" y="3371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29137" y="3371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9962" y="3371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0110787" y="3371850"/>
            <a:ext cx="342900" cy="342900"/>
          </a:xfrm>
          <a:prstGeom prst="roundRect">
            <a:avLst>
              <a:gd name="adj" fmla="val 50000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CO6: Integration &amp; QA Testing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614362"/>
            <a:ext cx="1714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COURSE OUTCOME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6150" y="609600"/>
            <a:ext cx="762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95437" y="3371850"/>
            <a:ext cx="6286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200" b="1" i="0" u="none">
                <a:solidFill>
                  <a:srgbClr val="0284C7"/>
                </a:solidFill>
                <a:latin typeface="Plus Jakarta San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5838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Capture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215" y="4105275"/>
            <a:ext cx="265509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Plus Jakarta Sans"/>
              </a:rPr>
              <a:t>Ingest user inputs and meter readings.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6262" y="3371850"/>
            <a:ext cx="6286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200" b="1" i="0" u="none">
                <a:solidFill>
                  <a:srgbClr val="0284C7"/>
                </a:solidFill>
                <a:latin typeface="Plus Jakarta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06663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Validate Delta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73040" y="4105275"/>
            <a:ext cx="265509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Plus Jakarta Sans"/>
              </a:rPr>
              <a:t>Check bounds and compute consumption.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77087" y="3371850"/>
            <a:ext cx="6286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200" b="1" i="0" u="none">
                <a:solidFill>
                  <a:srgbClr val="0284C7"/>
                </a:solidFill>
                <a:latin typeface="Plus Jakarta San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7488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Tariff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865" y="4105275"/>
            <a:ext cx="265509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Plus Jakarta Sans"/>
              </a:rPr>
              <a:t>Apply rate structures and surcharges.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7912" y="3371850"/>
            <a:ext cx="628650" cy="3429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200" b="1" i="0" u="none">
                <a:solidFill>
                  <a:srgbClr val="0284C7"/>
                </a:solidFill>
                <a:latin typeface="Plus Jakarta San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88313" y="3829050"/>
            <a:ext cx="278784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0F172A"/>
                </a:solidFill>
                <a:latin typeface="Plus Jakarta Sans"/>
              </a:rPr>
              <a:t>Export &amp; Summary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54690" y="4105275"/>
            <a:ext cx="2655093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475569"/>
                </a:solidFill>
                <a:latin typeface="Plus Jakarta Sans"/>
              </a:rPr>
              <a:t>Generate final logs and report output.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1714500"/>
            <a:ext cx="5751314" cy="41910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665714" y="1714500"/>
            <a:ext cx="4916685" cy="419100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94314" y="2209800"/>
            <a:ext cx="4459485" cy="3481387"/>
          </a:xfrm>
          <a:prstGeom prst="roundRect">
            <a:avLst>
              <a:gd name="adj" fmla="val 2188"/>
            </a:avLst>
          </a:prstGeom>
          <a:solidFill>
            <a:srgbClr val="161E30"/>
          </a:solidFill>
          <a:ln w="9525">
            <a:solidFill>
              <a:srgbClr val="1B23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625" y="2000250"/>
            <a:ext cx="5351264" cy="33337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009775"/>
            <a:ext cx="5332214" cy="33147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09600" y="762000"/>
            <a:ext cx="11582400" cy="3810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0F172A"/>
                </a:solidFill>
                <a:latin typeface="Plus Jakarta Sans"/>
              </a:rPr>
              <a:t>Application Screenshots &amp; Console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38162"/>
            <a:ext cx="17383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EXECUTION &amp;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34725" y="533400"/>
            <a:ext cx="733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5094" y="5448300"/>
            <a:ext cx="32504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475569"/>
                </a:solidFill>
                <a:latin typeface="Plus Jakarta Sans"/>
              </a:rPr>
              <a:t>Water Board Console Output 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878" y="5691187"/>
            <a:ext cx="557435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75" b="0" i="0" u="none">
                <a:solidFill>
                  <a:srgbClr val="94A3B8"/>
                </a:solidFill>
                <a:latin typeface="Plus Jakarta Sans"/>
              </a:rPr>
              <a:t>Real console output from application execution.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6714" y="2362200"/>
            <a:ext cx="4249935" cy="31765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38BDF8"/>
                </a:solidFill>
                <a:latin typeface="monospace"/>
              </a:rPr>
              <a:t>=== Water Board === 1) Add reading 2) Bill 3) Report 4) Household Consumption Grid 5) View saved readings 6) View saved bills 7) Exit 8) Reading History 9) Household-wise Consumption Summary Choice: 9 === Household-wise Consumption Summary === Household ID Total Consumption Readings ------------------------------------------- H-204 175.00 1 H-108 250.00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94314" y="1943100"/>
            <a:ext cx="25836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38BDF8"/>
                </a:solidFill>
                <a:latin typeface="Plus Jakarta Sans"/>
              </a:rPr>
              <a:t>PROGRAM EXECUTION SUMMARY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3043237"/>
            <a:ext cx="5372100" cy="1695450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6210300" y="3043237"/>
            <a:ext cx="5372100" cy="1695450"/>
          </a:xfrm>
          <a:prstGeom prst="roundRect">
            <a:avLst>
              <a:gd name="adj" fmla="val 89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09600" y="876300"/>
            <a:ext cx="11582400" cy="4286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Conclusion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4362"/>
            <a:ext cx="9620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284C7"/>
                </a:solidFill>
                <a:latin typeface="Plus Jakarta Sans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2825" y="609600"/>
            <a:ext cx="6953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0F172A"/>
                </a:solidFill>
                <a:latin typeface="Plus Jakarta Sans"/>
              </a:rPr>
              <a:t>Slide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319462"/>
            <a:ext cx="632579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Project Accomplishments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319462"/>
            <a:ext cx="5705475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0F172A"/>
                </a:solidFill>
                <a:latin typeface="Plus Jakarta Sans"/>
              </a:rPr>
              <a:t>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690937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Demonstrates practical Java application for utility monitoring.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3986212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Prevents invalid calculations via strict logical validation rules.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4281487"/>
            <a:ext cx="6024562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Increases leak awareness through occupant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6525" y="3690937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Database persistence layer (MySQL / PostgreSQL).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3986212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Integration with real-time IoT smart digital water meters.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4281487"/>
            <a:ext cx="570547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0" i="0" u="none">
                <a:solidFill>
                  <a:srgbClr val="475569"/>
                </a:solidFill>
                <a:latin typeface="Plus Jakarta Sans"/>
              </a:rPr>
              <a:t>• Dynamic local municipal tariff API synchronization.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500687" y="2081212"/>
            <a:ext cx="1190625" cy="2667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2762243" y="4060722"/>
            <a:ext cx="6667500" cy="895350"/>
          </a:xfrm>
          <a:prstGeom prst="roundRect">
            <a:avLst>
              <a:gd name="adj" fmla="val 12765"/>
            </a:avLst>
          </a:prstGeom>
          <a:solidFill>
            <a:srgbClr val="171F34"/>
          </a:solidFill>
          <a:ln w="9525">
            <a:solidFill>
              <a:srgbClr val="232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504259" y="2138362"/>
            <a:ext cx="1183481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75" b="1" i="0" u="none">
                <a:solidFill>
                  <a:srgbClr val="FFFFFF"/>
                </a:solidFill>
                <a:latin typeface="Plus Jakarta Sans"/>
              </a:rPr>
              <a:t>TEAM NO: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20640" y="2576512"/>
            <a:ext cx="5750718" cy="581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FFFFFF"/>
                </a:solidFill>
                <a:latin typeface="Plus Jakarta Sans"/>
              </a:rPr>
              <a:t>End of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05049" y="3309937"/>
            <a:ext cx="1981889" cy="49244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200" b="1" i="0" u="none" dirty="0">
                <a:solidFill>
                  <a:srgbClr val="38BDF8"/>
                </a:solidFill>
                <a:latin typeface="Plus Jakarta Sans"/>
              </a:rPr>
              <a:t>Thank You</a:t>
            </a:r>
            <a:r>
              <a:rPr lang="en-US" sz="3200" b="1" dirty="0">
                <a:solidFill>
                  <a:srgbClr val="38BDF8"/>
                </a:solidFill>
                <a:latin typeface="Plus Jakarta Sans"/>
              </a:rPr>
              <a:t>!</a:t>
            </a:r>
            <a:r>
              <a:rPr sz="3200" b="1" i="0" u="none" dirty="0">
                <a:solidFill>
                  <a:srgbClr val="38BDF8"/>
                </a:solidFill>
                <a:latin typeface="Plus Jakarta Sans"/>
              </a:rPr>
              <a:t>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74093" y="4043362"/>
            <a:ext cx="7643812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94A3B8"/>
                </a:solidFill>
                <a:latin typeface="Plus Jakarta Sans"/>
              </a:rPr>
              <a:t>GitHub Repository Link: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74093" y="4271962"/>
            <a:ext cx="7643812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38BDF8"/>
                </a:solidFill>
                <a:latin typeface="Plus Jakarta Sans"/>
              </a:rPr>
              <a:t>https://github.com/Varaprasad0021/KLHB_FED_2026-27_PSPJ_S10_T23_Household-Water-Usage-Billing-Monitor.git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827</Words>
  <Application>Microsoft Office PowerPoint</Application>
  <PresentationFormat>Widescreen</PresentationFormat>
  <Paragraphs>132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Plus Jakarta Sans</vt:lpstr>
      <vt:lpstr>Calibri</vt:lpstr>
      <vt:lpstr>monospace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account</cp:lastModifiedBy>
  <cp:revision>4</cp:revision>
  <dcterms:created xsi:type="dcterms:W3CDTF">2013-01-27T09:14:16Z</dcterms:created>
  <dcterms:modified xsi:type="dcterms:W3CDTF">2026-10-16T08:54:34Z</dcterms:modified>
  <cp:category/>
</cp:coreProperties>
</file>